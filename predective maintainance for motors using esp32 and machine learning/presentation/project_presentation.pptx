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7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8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4"/>
    <p:sldMasterId id="2147483953" r:id="rId5"/>
    <p:sldMasterId id="2147483954" r:id="rId6"/>
    <p:sldMasterId id="2147483961" r:id="rId7"/>
    <p:sldMasterId id="2147483963" r:id="rId8"/>
    <p:sldMasterId id="2147483956" r:id="rId9"/>
    <p:sldMasterId id="2147483958" r:id="rId10"/>
    <p:sldMasterId id="2147483955" r:id="rId11"/>
    <p:sldMasterId id="2147483973" r:id="rId12"/>
  </p:sldMasterIdLst>
  <p:notesMasterIdLst>
    <p:notesMasterId r:id="rId30"/>
  </p:notesMasterIdLst>
  <p:handoutMasterIdLst>
    <p:handoutMasterId r:id="rId31"/>
  </p:handoutMasterIdLst>
  <p:sldIdLst>
    <p:sldId id="571" r:id="rId13"/>
    <p:sldId id="711" r:id="rId14"/>
    <p:sldId id="712" r:id="rId15"/>
    <p:sldId id="713" r:id="rId16"/>
    <p:sldId id="714" r:id="rId17"/>
    <p:sldId id="715" r:id="rId18"/>
    <p:sldId id="716" r:id="rId19"/>
    <p:sldId id="717" r:id="rId20"/>
    <p:sldId id="718" r:id="rId21"/>
    <p:sldId id="719" r:id="rId22"/>
    <p:sldId id="720" r:id="rId23"/>
    <p:sldId id="721" r:id="rId24"/>
    <p:sldId id="722" r:id="rId25"/>
    <p:sldId id="704" r:id="rId26"/>
    <p:sldId id="705" r:id="rId27"/>
    <p:sldId id="709" r:id="rId28"/>
    <p:sldId id="698" r:id="rId29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2F0E3C5-4F5D-4EF9-9F02-717B63D6D545}">
          <p14:sldIdLst>
            <p14:sldId id="571"/>
            <p14:sldId id="711"/>
            <p14:sldId id="712"/>
            <p14:sldId id="713"/>
            <p14:sldId id="714"/>
            <p14:sldId id="715"/>
            <p14:sldId id="716"/>
            <p14:sldId id="717"/>
            <p14:sldId id="718"/>
            <p14:sldId id="719"/>
            <p14:sldId id="720"/>
            <p14:sldId id="721"/>
            <p14:sldId id="722"/>
          </p14:sldIdLst>
        </p14:section>
        <p14:section name="Untitled Section" id="{A2BEA06C-79B4-40DA-85D5-28B3379DDF2E}">
          <p14:sldIdLst>
            <p14:sldId id="704"/>
            <p14:sldId id="705"/>
            <p14:sldId id="709"/>
            <p14:sldId id="6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userDrawn="1">
          <p15:clr>
            <a:srgbClr val="A4A3A4"/>
          </p15:clr>
        </p15:guide>
        <p15:guide id="4" pos="76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kiko Takemi" initials="A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9950F"/>
    <a:srgbClr val="A5A5A5"/>
    <a:srgbClr val="E7E6E6"/>
    <a:srgbClr val="48367D"/>
    <a:srgbClr val="4C5252"/>
    <a:srgbClr val="EFCAAF"/>
    <a:srgbClr val="958FBC"/>
    <a:srgbClr val="EBE4A7"/>
    <a:srgbClr val="C9D5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F069F0-2A27-4336-BA8D-4C0DE71DE1B3}" v="21" dt="2026-05-08T18:57:49.4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6391"/>
  </p:normalViewPr>
  <p:slideViewPr>
    <p:cSldViewPr>
      <p:cViewPr>
        <p:scale>
          <a:sx n="52" d="100"/>
          <a:sy n="52" d="100"/>
        </p:scale>
        <p:origin x="1228" y="312"/>
      </p:cViewPr>
      <p:guideLst>
        <p:guide orient="horz" pos="2160"/>
        <p:guide pos="3840"/>
        <p:guide orient="horz"/>
        <p:guide pos="7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4068" y="-114"/>
      </p:cViewPr>
      <p:guideLst>
        <p:guide orient="horz" pos="3130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commentAuthors" Target="commentAuthor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l">
              <a:defRPr sz="1200"/>
            </a:lvl1pPr>
          </a:lstStyle>
          <a:p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r">
              <a:defRPr sz="1200"/>
            </a:lvl1pPr>
          </a:lstStyle>
          <a:p>
            <a:fld id="{85D701EE-1FBA-4307-A5A0-FAD659DC6E39}" type="datetimeFigureOut">
              <a:rPr lang="en-NZ" smtClean="0"/>
              <a:pPr/>
              <a:t>8/05/2026</a:t>
            </a:fld>
            <a:endParaRPr lang="en-NZ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l">
              <a:defRPr sz="1200"/>
            </a:lvl1pPr>
          </a:lstStyle>
          <a:p>
            <a:endParaRPr lang="en-NZ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r">
              <a:defRPr sz="1200"/>
            </a:lvl1pPr>
          </a:lstStyle>
          <a:p>
            <a:fld id="{97D3D0BD-DB2D-4CFB-B804-653564142846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10953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r">
              <a:defRPr sz="1200" b="0" i="0">
                <a:latin typeface="+mn-lt"/>
              </a:defRPr>
            </a:lvl1pPr>
          </a:lstStyle>
          <a:p>
            <a:fld id="{72A1673E-E3F0-41EB-8C5F-8EC9A5FDE63C}" type="datetimeFigureOut">
              <a:rPr lang="en-NZ" smtClean="0"/>
              <a:pPr/>
              <a:t>8/05/2026</a:t>
            </a:fld>
            <a:endParaRPr lang="en-NZ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4238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74" tIns="45737" rIns="91474" bIns="45737" rtlCol="0" anchor="ctr"/>
          <a:lstStyle/>
          <a:p>
            <a:endParaRPr lang="en-NZ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1" y="4783309"/>
            <a:ext cx="5445760" cy="3913614"/>
          </a:xfrm>
          <a:prstGeom prst="rect">
            <a:avLst/>
          </a:prstGeom>
        </p:spPr>
        <p:txBody>
          <a:bodyPr vert="horz" lIns="91474" tIns="45737" rIns="91474" bIns="45737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N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F4089372-A661-494F-90C4-94E25994D307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13860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089372-A661-494F-90C4-94E25994D307}" type="slidenum">
              <a:rPr lang="en-NZ" smtClean="0"/>
              <a:pPr/>
              <a:t>14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077378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ownloads\ilovepdf_pages-to-jpg (1)\RU_PPT Template-White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47805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C:\Users\Admin\Downloads\ilovepdf_pages-to-jpg (1)\RU_PPT Template-White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 userDrawn="1"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FE99A1-F019-42EF-A6DD-FBA9CE0E5FB1}"/>
              </a:ext>
            </a:extLst>
          </p:cNvPr>
          <p:cNvGrpSpPr/>
          <p:nvPr userDrawn="1"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14" name="Picture 2" descr="NIRF — SAVEETHA SCHOOL OF MANAGEMENT">
              <a:extLst>
                <a:ext uri="{FF2B5EF4-FFF2-40B4-BE49-F238E27FC236}">
                  <a16:creationId xmlns:a16="http://schemas.microsoft.com/office/drawing/2014/main" id="{9B00A4D8-FB36-4B42-882E-EE775CC50F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17" t="4377" r="28922" b="7151"/>
            <a:stretch/>
          </p:blipFill>
          <p:spPr bwMode="auto">
            <a:xfrm>
              <a:off x="12122688" y="97913"/>
              <a:ext cx="843474" cy="59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Bharath University - Top University In India">
              <a:extLst>
                <a:ext uri="{FF2B5EF4-FFF2-40B4-BE49-F238E27FC236}">
                  <a16:creationId xmlns:a16="http://schemas.microsoft.com/office/drawing/2014/main" id="{8CF62A35-8903-4AEE-9045-1FA034AB8A0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939" y="182966"/>
              <a:ext cx="1158298" cy="430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 descr="CREDISAPP for Ratings - Eloit">
              <a:extLst>
                <a:ext uri="{FF2B5EF4-FFF2-40B4-BE49-F238E27FC236}">
                  <a16:creationId xmlns:a16="http://schemas.microsoft.com/office/drawing/2014/main" id="{4EC4255E-9275-4645-A3F8-21419123E0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2901" y="114292"/>
              <a:ext cx="1155067" cy="57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8" descr="MHRD | Innovation Cell - Home">
              <a:extLst>
                <a:ext uri="{FF2B5EF4-FFF2-40B4-BE49-F238E27FC236}">
                  <a16:creationId xmlns:a16="http://schemas.microsoft.com/office/drawing/2014/main" id="{E6BC1D26-C603-41F7-A77B-3E57CF81C4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154" y="789734"/>
              <a:ext cx="1857797" cy="658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0" descr="Institution's Innovation Council | MHRD">
              <a:extLst>
                <a:ext uri="{FF2B5EF4-FFF2-40B4-BE49-F238E27FC236}">
                  <a16:creationId xmlns:a16="http://schemas.microsoft.com/office/drawing/2014/main" id="{36AC505C-EAFA-4C95-8784-8D5ACB655B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79" t="20721" r="8879" b="24346"/>
            <a:stretch/>
          </p:blipFill>
          <p:spPr bwMode="auto">
            <a:xfrm>
              <a:off x="12886182" y="774201"/>
              <a:ext cx="1349698" cy="637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1518763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AFE99A1-F019-42EF-A6DD-FBA9CE0E5FB1}"/>
              </a:ext>
            </a:extLst>
          </p:cNvPr>
          <p:cNvGrpSpPr/>
          <p:nvPr userDrawn="1"/>
        </p:nvGrpSpPr>
        <p:grpSpPr>
          <a:xfrm>
            <a:off x="9220200" y="304800"/>
            <a:ext cx="2601503" cy="1082742"/>
            <a:chOff x="10616154" y="97913"/>
            <a:chExt cx="3619726" cy="1349912"/>
          </a:xfrm>
        </p:grpSpPr>
        <p:pic>
          <p:nvPicPr>
            <p:cNvPr id="22" name="Picture 2" descr="NIRF — SAVEETHA SCHOOL OF MANAGEMENT">
              <a:extLst>
                <a:ext uri="{FF2B5EF4-FFF2-40B4-BE49-F238E27FC236}">
                  <a16:creationId xmlns:a16="http://schemas.microsoft.com/office/drawing/2014/main" id="{9B00A4D8-FB36-4B42-882E-EE775CC50F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17" t="4377" r="28922" b="7151"/>
            <a:stretch/>
          </p:blipFill>
          <p:spPr bwMode="auto">
            <a:xfrm>
              <a:off x="12122688" y="97913"/>
              <a:ext cx="843474" cy="59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Bharath University - Top University In India">
              <a:extLst>
                <a:ext uri="{FF2B5EF4-FFF2-40B4-BE49-F238E27FC236}">
                  <a16:creationId xmlns:a16="http://schemas.microsoft.com/office/drawing/2014/main" id="{8CF62A35-8903-4AEE-9045-1FA034AB8A0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939" y="182966"/>
              <a:ext cx="1158298" cy="430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6" descr="CREDISAPP for Ratings - Eloit">
              <a:extLst>
                <a:ext uri="{FF2B5EF4-FFF2-40B4-BE49-F238E27FC236}">
                  <a16:creationId xmlns:a16="http://schemas.microsoft.com/office/drawing/2014/main" id="{4EC4255E-9275-4645-A3F8-21419123E0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2901" y="114292"/>
              <a:ext cx="1155067" cy="57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8" descr="MHRD | Innovation Cell - Home">
              <a:extLst>
                <a:ext uri="{FF2B5EF4-FFF2-40B4-BE49-F238E27FC236}">
                  <a16:creationId xmlns:a16="http://schemas.microsoft.com/office/drawing/2014/main" id="{E6BC1D26-C603-41F7-A77B-3E57CF81C4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154" y="789734"/>
              <a:ext cx="1857797" cy="658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0" descr="Institution's Innovation Council | MHRD">
              <a:extLst>
                <a:ext uri="{FF2B5EF4-FFF2-40B4-BE49-F238E27FC236}">
                  <a16:creationId xmlns:a16="http://schemas.microsoft.com/office/drawing/2014/main" id="{36AC505C-EAFA-4C95-8784-8D5ACB655B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79" t="20721" r="8879" b="24346"/>
            <a:stretch/>
          </p:blipFill>
          <p:spPr bwMode="auto">
            <a:xfrm>
              <a:off x="12886182" y="774201"/>
              <a:ext cx="1349698" cy="637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1518763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28966536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96D411-367F-DE44-B86F-24693F081E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4580247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  <p:pic>
        <p:nvPicPr>
          <p:cNvPr id="16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380" y="1857550"/>
            <a:ext cx="3581400" cy="9977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3554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02052CF-F9E7-714A-BDAE-9BE0ECB4D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02334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0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559C6D-4317-AA46-BAB3-6CD813F0D9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5464016-775B-B140-8812-D9666C711A4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1413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genda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F680B5D-7167-924C-AF0A-D048ACEDB4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8854B0-9314-934B-A796-5B8219D03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 (Two Columns)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92246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genda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1BD9FBF-4057-CE4A-95FF-A7E4437BE4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F61B18F-41E7-EB43-A1A5-986763A09C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3932FE3-F1D5-2245-8974-1F3F9EDF2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 (Two Columns)</a:t>
            </a:r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41344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\Downloads\ilovepdf_pages-to-jpg (4)\RU_PPT Template-Grey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92202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1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3" cstate="print"/>
          <a:srcRect r="76596" b="15988"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15917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min\Downloads\ilovepdf_pages-to-jpg (3)\RU_PPT Template-White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92202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4" name="Picture 3" descr="C:\Users\Admin\Downloads\1-05.png"/>
          <p:cNvPicPr>
            <a:picLocks noChangeAspect="1" noChangeArrowheads="1"/>
          </p:cNvPicPr>
          <p:nvPr userDrawn="1"/>
        </p:nvPicPr>
        <p:blipFill>
          <a:blip r:embed="rId3"/>
          <a:srcRect r="73063"/>
          <a:stretch>
            <a:fillRect/>
          </a:stretch>
        </p:blipFill>
        <p:spPr bwMode="auto">
          <a:xfrm>
            <a:off x="-54605" y="-381001"/>
            <a:ext cx="955557" cy="17111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1359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77724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DAC6C2B-8407-D64F-820D-E7CF746EE15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Nobel-Book" panose="0200050304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1A0E79-2BC7-C74E-A6C5-1646C3E49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352" y="6384910"/>
            <a:ext cx="812480" cy="142503"/>
          </a:xfrm>
          <a:prstGeom prst="rect">
            <a:avLst/>
          </a:prstGeom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5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3" cstate="print"/>
          <a:srcRect r="76596" b="15988"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73274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/ Video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B10B4EE-A653-1D4B-98CF-698451C180B3}"/>
              </a:ext>
            </a:extLst>
          </p:cNvPr>
          <p:cNvSpPr>
            <a:spLocks noGrp="1"/>
          </p:cNvSpPr>
          <p:nvPr>
            <p:ph type="media" sz="quarter" idx="20" hasCustomPrompt="1"/>
          </p:nvPr>
        </p:nvSpPr>
        <p:spPr>
          <a:xfrm>
            <a:off x="623888" y="1412875"/>
            <a:ext cx="11088687" cy="445452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video</a:t>
            </a:r>
          </a:p>
          <a:p>
            <a:endParaRPr lang="en-US" dirty="0"/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34062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/ Video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-1"/>
            <a:ext cx="12193193" cy="6858001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13" name="Media Placeholder 3">
            <a:extLst>
              <a:ext uri="{FF2B5EF4-FFF2-40B4-BE49-F238E27FC236}">
                <a16:creationId xmlns:a16="http://schemas.microsoft.com/office/drawing/2014/main" id="{9B10B4EE-A653-1D4B-98CF-698451C180B3}"/>
              </a:ext>
            </a:extLst>
          </p:cNvPr>
          <p:cNvSpPr>
            <a:spLocks noGrp="1"/>
          </p:cNvSpPr>
          <p:nvPr>
            <p:ph type="media" sz="quarter" idx="20" hasCustomPrompt="1"/>
          </p:nvPr>
        </p:nvSpPr>
        <p:spPr>
          <a:xfrm>
            <a:off x="623888" y="1412875"/>
            <a:ext cx="11088687" cy="445452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video</a:t>
            </a:r>
          </a:p>
          <a:p>
            <a:endParaRPr lang="en-US" dirty="0"/>
          </a:p>
        </p:txBody>
      </p:sp>
      <p:sp>
        <p:nvSpPr>
          <p:cNvPr id="15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347756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/ Video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6" hasCustomPrompt="1"/>
          </p:nvPr>
        </p:nvSpPr>
        <p:spPr>
          <a:xfrm>
            <a:off x="60198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234062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/ Video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-1"/>
            <a:ext cx="12193193" cy="6858001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15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6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7" name="Picture Placeholder 12"/>
          <p:cNvSpPr>
            <a:spLocks noGrp="1"/>
          </p:cNvSpPr>
          <p:nvPr>
            <p:ph type="pic" sz="quarter" idx="16" hasCustomPrompt="1"/>
          </p:nvPr>
        </p:nvSpPr>
        <p:spPr>
          <a:xfrm>
            <a:off x="60198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347756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6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33335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80280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80280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80280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Image Black 3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876850F-ABC0-9B46-8AA9-D1E0133CA4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7200" y="381000"/>
            <a:ext cx="5561400" cy="57150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74C1A9-D7CD-AE4E-B3EE-BA5A1E80F2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70483"/>
            <a:ext cx="5112568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spcAft>
                <a:spcPts val="0"/>
              </a:spcAft>
              <a:tabLst/>
              <a:defRPr sz="2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spcAft>
                <a:spcPts val="0"/>
              </a:spcAft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4pPr>
            <a:lvl5pPr marL="1323975" indent="-230188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237723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Image White 5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7876850F-ABC0-9B46-8AA9-D1E0133CA4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7200" y="381000"/>
            <a:ext cx="5561400" cy="57150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F74C1A9-D7CD-AE4E-B3EE-BA5A1E80F2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70483"/>
            <a:ext cx="5112568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spcAft>
                <a:spcPts val="0"/>
              </a:spcAft>
              <a:tabLst/>
              <a:defRPr sz="2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spcAft>
                <a:spcPts val="0"/>
              </a:spcAft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4pPr>
            <a:lvl5pPr marL="1323975" indent="-230188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7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732570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32C3D9F-FFE4-0F49-B358-349DAE3C53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80943" y="2527475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6CCF012A-37B8-A846-96C9-F68F190709B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83894" y="2527476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996502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171FABC-7F9F-3F4F-AF20-A434E98D45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3" y="4869160"/>
            <a:ext cx="3442051" cy="115212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AFFC4A7-46EC-C047-99A4-7BC9BF125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80249" y="4869160"/>
            <a:ext cx="3442051" cy="1152128"/>
          </a:xfrm>
          <a:prstGeom prst="rect">
            <a:avLst/>
          </a:prstGeom>
        </p:spPr>
        <p:txBody>
          <a:bodyPr/>
          <a:lstStyle>
            <a:lvl1pPr marL="230188" marR="0" indent="-230188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5746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2pPr>
            <a:lvl3pPr marL="10318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dirty="0"/>
              <a:t>Editable body copy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D8CAD92-AB23-784E-BBCE-25C0466B2F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5147" y="4869160"/>
            <a:ext cx="3442051" cy="115212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133F4C6-1C2F-3C4D-AEE3-3C40BF75EF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2F415E3C-898F-174D-87AF-BF01FE9814F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247" y="2526937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58304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Images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32C3D9F-FFE4-0F49-B358-349DAE3C53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80943" y="2527475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6CCF012A-37B8-A846-96C9-F68F190709B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83894" y="2527476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996502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171FABC-7F9F-3F4F-AF20-A434E98D45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3" y="4869160"/>
            <a:ext cx="3442051" cy="115212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AFFC4A7-46EC-C047-99A4-7BC9BF125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80249" y="4869160"/>
            <a:ext cx="3442051" cy="1152128"/>
          </a:xfrm>
          <a:prstGeom prst="rect">
            <a:avLst/>
          </a:prstGeom>
        </p:spPr>
        <p:txBody>
          <a:bodyPr/>
          <a:lstStyle>
            <a:lvl1pPr marL="230188" marR="0" indent="-230188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5746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2pPr>
            <a:lvl3pPr marL="10318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dirty="0"/>
              <a:t>Editable body copy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D8CAD92-AB23-784E-BBCE-25C0466B2F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5147" y="4869160"/>
            <a:ext cx="3442051" cy="115212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133F4C6-1C2F-3C4D-AEE3-3C40BF75EF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2F415E3C-898F-174D-87AF-BF01FE9814F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247" y="2526937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58304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Table page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7260009-5486-ED4F-84C4-78FE71BC59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41EFC9F-B96F-204C-8057-F2337DEBA477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623392" y="2204864"/>
            <a:ext cx="11089183" cy="38879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25470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Table page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7260009-5486-ED4F-84C4-78FE71BC59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41EFC9F-B96F-204C-8057-F2337DEBA477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623392" y="2204864"/>
            <a:ext cx="11089183" cy="38879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25470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407368" y="2276872"/>
            <a:ext cx="11325348" cy="3751914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bar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Bar</a:t>
            </a:r>
            <a:br>
              <a:rPr lang="en-US" dirty="0"/>
            </a:br>
            <a:r>
              <a:rPr lang="en-US" dirty="0"/>
              <a:t>Graph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23146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407368" y="2276872"/>
            <a:ext cx="11325348" cy="3751914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bar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Bar</a:t>
            </a:r>
            <a:br>
              <a:rPr lang="en-US" dirty="0"/>
            </a:br>
            <a:r>
              <a:rPr lang="en-US" dirty="0"/>
              <a:t>Graph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23146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Graph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8612" y="1376067"/>
            <a:ext cx="5404104" cy="47892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99629"/>
            <a:ext cx="5230853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tabLst/>
              <a:defRPr sz="2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69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18510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y and Graph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8612" y="1376067"/>
            <a:ext cx="5404104" cy="4789237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99629"/>
            <a:ext cx="5230853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tabLst/>
              <a:defRPr sz="2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69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18510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Work Flow slide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05C5C-DB09-9B48-BE37-71390178EE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40768"/>
            <a:ext cx="11089232" cy="100811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Editable body copy</a:t>
            </a:r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id="{8FBA3758-16A0-D14A-BD36-337B1D31271F}"/>
              </a:ext>
            </a:extLst>
          </p:cNvPr>
          <p:cNvSpPr/>
          <p:nvPr userDrawn="1"/>
        </p:nvSpPr>
        <p:spPr>
          <a:xfrm>
            <a:off x="808086" y="2636912"/>
            <a:ext cx="3816424" cy="1800200"/>
          </a:xfrm>
          <a:prstGeom prst="homePlate">
            <a:avLst>
              <a:gd name="adj" fmla="val 22899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4720C1A-BDFE-E146-B6ED-4700DEA3F3E3}"/>
              </a:ext>
            </a:extLst>
          </p:cNvPr>
          <p:cNvSpPr/>
          <p:nvPr userDrawn="1"/>
        </p:nvSpPr>
        <p:spPr>
          <a:xfrm>
            <a:off x="440848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3B464B9-0F71-424C-BC88-02B2AA03265F}"/>
              </a:ext>
            </a:extLst>
          </p:cNvPr>
          <p:cNvSpPr/>
          <p:nvPr userDrawn="1"/>
        </p:nvSpPr>
        <p:spPr>
          <a:xfrm>
            <a:off x="764884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376484-E90C-F04E-B131-5D61FED1F3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590" y="2708275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94D7AD1-383D-8841-8460-9BA6874F35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0534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D95E0D3F-8EC7-5649-B14D-1D587E65EF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05631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7869EA-8258-0C41-A3E5-4FCD4D1F17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590" y="4648587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300"/>
              </a:spcBef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6121E29-064A-1641-86F9-CFB9DAF65A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72727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0018615F-C088-3949-9CA2-1FDCB1416F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4278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04828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Workflow slide</a:t>
            </a: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5A79C9B3-40EA-6841-962A-BB4931099614}"/>
              </a:ext>
            </a:extLst>
          </p:cNvPr>
          <p:cNvSpPr/>
          <p:nvPr userDrawn="1"/>
        </p:nvSpPr>
        <p:spPr>
          <a:xfrm>
            <a:off x="808086" y="2636912"/>
            <a:ext cx="3816424" cy="1800200"/>
          </a:xfrm>
          <a:prstGeom prst="homePlate">
            <a:avLst>
              <a:gd name="adj" fmla="val 228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5D17357-6BFE-1941-B56A-C8F51F73177D}"/>
              </a:ext>
            </a:extLst>
          </p:cNvPr>
          <p:cNvSpPr/>
          <p:nvPr userDrawn="1"/>
        </p:nvSpPr>
        <p:spPr>
          <a:xfrm>
            <a:off x="440848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480B83C1-8261-F644-8639-88185FC10CFE}"/>
              </a:ext>
            </a:extLst>
          </p:cNvPr>
          <p:cNvSpPr/>
          <p:nvPr userDrawn="1"/>
        </p:nvSpPr>
        <p:spPr>
          <a:xfrm>
            <a:off x="764884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F6605B9-0F65-4D4B-9FFA-E922993530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590" y="2708275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9737036-FF00-C544-808C-D5A2177D41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0534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91CC5985-5A7F-6441-BC10-7E669F1E87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05631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AB7B642-A681-B34E-977A-6F85EA6BC1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590" y="4648587"/>
            <a:ext cx="3311525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2827E12-373D-8B4F-AD69-9F7C005EDE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72727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FCBB0C0-51D7-0448-A90C-8B8B74462D9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4278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E1F1297-EA50-094F-9E80-E44D36C543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40768"/>
            <a:ext cx="11089232" cy="100811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Editable body copy</a:t>
            </a:r>
          </a:p>
        </p:txBody>
      </p:sp>
      <p:sp>
        <p:nvSpPr>
          <p:cNvPr id="2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860595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Admin\Downloads\ilovepdf_pages-to-jpg (3)\RU_PPT Template-White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14339" name="Picture 3" descr="C:\Users\Admin\Downloads\ilovepdf_pages-to-jpg (3)\RU_PPT Template-White Blank (1)_page-0001.jpg"/>
          <p:cNvPicPr>
            <a:picLocks noChangeAspect="1" noChangeArrowheads="1"/>
          </p:cNvPicPr>
          <p:nvPr userDrawn="1"/>
        </p:nvPicPr>
        <p:blipFill>
          <a:blip r:embed="rId3" cstate="print"/>
          <a:srcRect l="6250" t="83342" b="3324"/>
          <a:stretch>
            <a:fillRect/>
          </a:stretch>
        </p:blipFill>
        <p:spPr bwMode="auto">
          <a:xfrm>
            <a:off x="2173941" y="5983224"/>
            <a:ext cx="9982200" cy="7985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266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3017837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6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 t="69444" b="16667"/>
          <a:stretch>
            <a:fillRect/>
          </a:stretch>
        </p:blipFill>
        <p:spPr bwMode="auto">
          <a:xfrm>
            <a:off x="228600" y="1752600"/>
            <a:ext cx="5486400" cy="1143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266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Admin\Downloads\FAI_7881_HDR_edit.jpg"/>
          <p:cNvPicPr>
            <a:picLocks noChangeAspect="1" noChangeArrowheads="1"/>
          </p:cNvPicPr>
          <p:nvPr userDrawn="1"/>
        </p:nvPicPr>
        <p:blipFill>
          <a:blip r:embed="rId2" cstate="print"/>
          <a:srcRect r="872" b="11451"/>
          <a:stretch>
            <a:fillRect/>
          </a:stretch>
        </p:blipFill>
        <p:spPr bwMode="auto">
          <a:xfrm>
            <a:off x="-16567" y="-16565"/>
            <a:ext cx="12246810" cy="68961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 userDrawn="1"/>
        </p:nvSpPr>
        <p:spPr>
          <a:xfrm>
            <a:off x="-26276" y="-26276"/>
            <a:ext cx="12218276" cy="6884276"/>
          </a:xfrm>
          <a:prstGeom prst="rect">
            <a:avLst/>
          </a:prstGeom>
          <a:solidFill>
            <a:schemeClr val="dk1">
              <a:alpha val="59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8" name="Picture 3" descr="C:\Users\Admin\Downloads\1-05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890001" y="0"/>
            <a:ext cx="3064565" cy="1478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266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Custom Pictur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9D1C3BC-7BFF-1640-819B-5BED6BEC9B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1A0E79-2BC7-C74E-A6C5-1646C3E49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352" y="6384910"/>
            <a:ext cx="812480" cy="142503"/>
          </a:xfrm>
          <a:prstGeom prst="rect">
            <a:avLst/>
          </a:prstGeom>
        </p:spPr>
      </p:pic>
      <p:pic>
        <p:nvPicPr>
          <p:cNvPr id="11" name="Picture 3" descr="C:\Users\Admin\Downloads\ilovepdf_pages-to-jpg (3)\RU_PPT Template-White Blank (1)_page-0001.jpg"/>
          <p:cNvPicPr>
            <a:picLocks noChangeAspect="1" noChangeArrowheads="1"/>
          </p:cNvPicPr>
          <p:nvPr userDrawn="1"/>
        </p:nvPicPr>
        <p:blipFill>
          <a:blip r:embed="rId3"/>
          <a:srcRect l="6250" t="83342" b="3324"/>
          <a:stretch>
            <a:fillRect/>
          </a:stretch>
        </p:blipFill>
        <p:spPr bwMode="auto">
          <a:xfrm>
            <a:off x="726141" y="5867400"/>
            <a:ext cx="114300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70069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07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6" r:id="rId2"/>
    <p:sldLayoutId id="2147484009" r:id="rId3"/>
    <p:sldLayoutId id="2147483883" r:id="rId4"/>
    <p:sldLayoutId id="2147483977" r:id="rId5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3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41" r:id="rId2"/>
    <p:sldLayoutId id="2147483943" r:id="rId3"/>
    <p:sldLayoutId id="2147483944" r:id="rId4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687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996" r:id="rId3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33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98" r:id="rId3"/>
    <p:sldLayoutId id="2147483999" r:id="rId4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7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4002" r:id="rId3"/>
    <p:sldLayoutId id="2147484003" r:id="rId4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161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0" r:id="rId2"/>
    <p:sldLayoutId id="2147483891" r:id="rId3"/>
    <p:sldLayoutId id="2147484000" r:id="rId4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027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4001" r:id="rId2"/>
    <p:sldLayoutId id="2147483916" r:id="rId3"/>
    <p:sldLayoutId id="2147484004" r:id="rId4"/>
    <p:sldLayoutId id="2147483879" r:id="rId5"/>
    <p:sldLayoutId id="2147484005" r:id="rId6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116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4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6" r:id="rId3"/>
    <p:sldLayoutId id="2147483992" r:id="rId4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971799"/>
            <a:ext cx="8421823" cy="160730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 of Industrial Motors Using Multi Sensor Data</a:t>
            </a:r>
            <a:b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73F89A42-C401-4218-826A-9827CDDB6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191000"/>
            <a:ext cx="4495800" cy="1426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Mini Project</a:t>
            </a:r>
            <a:r>
              <a:rPr lang="en-US" altLang="en-US" sz="2000" b="1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2000" b="1" i="0" strike="noStrike" kern="1200" cap="none" spc="0" normalizeH="0" baseline="0" noProof="0" dirty="0">
              <a:ln>
                <a:noFill/>
              </a:ln>
              <a:solidFill>
                <a:srgbClr val="FF66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Team No: 10</a:t>
            </a:r>
          </a:p>
          <a:p>
            <a:pPr marL="228600" marR="0" lvl="0" indent="-2286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US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Neethu K.N </a:t>
            </a:r>
            <a:endParaRPr kumimoji="0" lang="en-US" altLang="en-US" sz="2000" b="1" i="0" u="sng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823A1539-2812-4A48-91BA-F5AD70472C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1130" y="4191000"/>
            <a:ext cx="41910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  <a:p>
            <a:pPr eaLnBrk="1" hangingPunct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R23EN111 – Rachana Shettar</a:t>
            </a:r>
          </a:p>
          <a:p>
            <a:pPr eaLnBrk="1" hangingPunct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R23EN091 – Mythri RN</a:t>
            </a:r>
          </a:p>
          <a:p>
            <a:pPr eaLnBrk="1" hangingPunct="1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R23EN040 – Darshan D Telsang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10F720-8D81-CCBD-3AAB-82E21A44C48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2</a:t>
            </a:fld>
            <a:endParaRPr lang="en-NZ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4FD54F-AF8D-4571-535A-C3CF35604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1704"/>
            <a:ext cx="12192000" cy="50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26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E3CBCC-54FF-3319-375E-7B301E665EF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3</a:t>
            </a:fld>
            <a:endParaRPr lang="en-NZ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217C1A-7B77-80AC-7595-88DA54294B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551"/>
          <a:stretch>
            <a:fillRect/>
          </a:stretch>
        </p:blipFill>
        <p:spPr>
          <a:xfrm>
            <a:off x="0" y="-23117"/>
            <a:ext cx="12192000" cy="567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569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871791-FB5F-4449-8EC8-9DAC12C0C9B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4</a:t>
            </a:fld>
            <a:endParaRPr lang="en-NZ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82FD21-1CDC-9731-6F84-CB8144953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F478FE-5EB9-FA34-B281-DE4FBC65E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509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534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D09380-DD92-52B4-B823-E8D206C267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5</a:t>
            </a:fld>
            <a:endParaRPr lang="en-NZ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C415E8-003C-5C8A-5A56-3250B063F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2400"/>
            <a:ext cx="7173326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6540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5C6088D-4955-F705-9E44-2897F389132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6</a:t>
            </a:fld>
            <a:endParaRPr lang="en-NZ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DDEE8B-2151-4115-779D-ED25DFB35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68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8D6BEF-11C6-51EB-47CF-7FE187B50D0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7</a:t>
            </a:fld>
            <a:endParaRPr lang="en-NZ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69CCE0-5614-10C4-9845-A026416E0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457200"/>
            <a:ext cx="8686800" cy="534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204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CB7A44-C88B-9DCA-57B4-72124344B51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8</a:t>
            </a:fld>
            <a:endParaRPr lang="en-NZ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B655CF-FE32-6CE5-A600-7E5D152AF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397"/>
            <a:ext cx="11887868" cy="595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28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76707A-A178-9DC1-D6DE-B6FD412046E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9</a:t>
            </a:fld>
            <a:endParaRPr lang="en-NZ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3E2EC4-D9CC-B348-A163-B67B9A864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04800"/>
            <a:ext cx="5648784" cy="559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208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68C8E5-A665-303E-6317-4A0C984C46A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10</a:t>
            </a:fld>
            <a:endParaRPr lang="en-NZ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0FAA8D-5511-737A-428B-D3568CA21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052421" y="1434514"/>
            <a:ext cx="3377431" cy="49261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3ACE46-D8D8-8BE8-190D-A6D3B56F3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6" y="104311"/>
            <a:ext cx="12050807" cy="33246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8F7B83E-4C3D-D7F2-FCC7-BA6B7B96E5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218" b="4123"/>
          <a:stretch>
            <a:fillRect/>
          </a:stretch>
        </p:blipFill>
        <p:spPr>
          <a:xfrm>
            <a:off x="70596" y="3581400"/>
            <a:ext cx="655411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85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0498A1-27C9-A824-DCEA-5E6EFDAB962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11</a:t>
            </a:fld>
            <a:endParaRPr lang="en-NZ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D2AA45-1830-7030-814B-875DBD0DE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5696745" cy="27626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B29E55-63DA-A829-0529-2982454CF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397" y="0"/>
            <a:ext cx="5830114" cy="30484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3FD1D1-DC2D-0AC1-8319-D3F0EAFB01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13"/>
          <a:stretch>
            <a:fillRect/>
          </a:stretch>
        </p:blipFill>
        <p:spPr>
          <a:xfrm>
            <a:off x="76200" y="2863550"/>
            <a:ext cx="8377454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706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6F5DCA-2BEB-ADA4-FD08-283A42389B0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12</a:t>
            </a:fld>
            <a:endParaRPr lang="en-NZ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CD08D3-388B-5AF7-A673-03051E5C9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15544-C916-3032-62C8-AE46048089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248404"/>
            <a:ext cx="10801201" cy="4570416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Achievements: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 sensor monitoring 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cloud update 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Accurate ML prediction 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app visualization 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Fault alert generation </a:t>
            </a:r>
          </a:p>
          <a:p>
            <a:pPr marL="0" indent="0" algn="just"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Accuracy:</a:t>
            </a:r>
          </a:p>
          <a:p>
            <a:pPr marL="0" indent="0" algn="just">
              <a:buNone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Around 85%–95% accuracy achieved using Random Forest algorithm. </a:t>
            </a:r>
          </a:p>
          <a:p>
            <a:pPr marL="0" indent="0" algn="just"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221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1E8F11-E015-194C-7EC9-33BA2FE205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13</a:t>
            </a:fld>
            <a:endParaRPr lang="en-NZ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5E77AF-77F3-98E4-D179-07CFB175B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A3E3A-D16E-BD48-5F72-585AA9834A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64072" y="1268760"/>
            <a:ext cx="10801201" cy="432048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Predictive Maintenance System successfully monitors motor health using IoT and Machine Learning.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Predicts faults early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industrial safety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downtime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smart maintenance 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the practical implementation of Industry 4.0 concepts using ESP32 and Machine Learning.</a:t>
            </a:r>
          </a:p>
          <a:p>
            <a:pPr marL="0" indent="0" algn="just">
              <a:buNone/>
            </a:pP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828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EAA81B-83C1-AE78-B7C4-96B8E0003EF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14</a:t>
            </a:fld>
            <a:endParaRPr lang="en-NZ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50C834-0344-14A4-27A9-BA114418C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764" y="0"/>
            <a:ext cx="3631435" cy="914400"/>
          </a:xfrm>
        </p:spPr>
        <p:txBody>
          <a:bodyPr/>
          <a:lstStyle/>
          <a:p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C1EE7-ABDD-EBCE-2831-E4C69B3081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53209" y="762000"/>
            <a:ext cx="10122028" cy="5181600"/>
          </a:xfrm>
        </p:spPr>
        <p:txBody>
          <a:bodyPr/>
          <a:lstStyle/>
          <a:p>
            <a:pPr marL="0" indent="0" algn="just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M. Valtierra-Rodriguez, J. R. Rivera-Guillen, J. A. Basurto-Hurtado, J. J. De-Santiago-Perez, D. Granados-Lieberman, and J. P. Amezquita-Sanchez, “Convolutional neural network and motor current signature analysis during the transient state for detection of broken rotor bars in induction motors,” </a:t>
            </a:r>
            <a: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20, no. 13, p. 3721, 2020.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X. Song, J. Hu, H. Zhu, and J. Zhang, “A bearing outer raceway fault detection method in induction motors based on instantaneous frequency of the stator current,” </a:t>
            </a:r>
            <a: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IEEJ Transactions on Electrical and Electronic Engineering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13, no. 3, pp. 510–516, 2018.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K. D. Kompella, M. V. G. Rao, and R. S. Rao, “Bearing fault detection in a 3-phase induction motor using stator current frequency spectral subtraction with various wavelet decomposition techniques,” </a:t>
            </a:r>
            <a: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Ain Shams Engineering Journal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9, no. 4, pp. 2427–2439, 2018.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L. Collamati, F.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Filippetti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G. Franceschini, S. Pirani, and C. Tassoni, “Induction machine stator fault on-line diagnosis based on LabVIEW environment,” pp. 495–498.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A.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Sharotry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J. A. Jimenez, F. A. M. Mediavilla, D. Wierschem, R. M.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Koldenhoven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D. Valles, “Manufacturing operator ergonomics: A conceptual digital twin approach to detect biomechanical fatigue,” </a:t>
            </a:r>
            <a: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10, pp. 12774–12791, 2022.</a:t>
            </a:r>
          </a:p>
          <a:p>
            <a:pPr marL="0" indent="0" algn="just">
              <a:buNone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923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CBC357-5595-B5FF-1A95-FA100BF34E3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15</a:t>
            </a:fld>
            <a:endParaRPr lang="en-NZ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1303E-25D8-56AF-94C9-08BC543087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4400" y="152400"/>
            <a:ext cx="10452746" cy="6096000"/>
          </a:xfrm>
        </p:spPr>
        <p:txBody>
          <a:bodyPr/>
          <a:lstStyle/>
          <a:p>
            <a:pPr marL="0" indent="0" algn="just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[6] J. Rodriguez </a:t>
            </a:r>
            <a: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al.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“Model predictive control: A review of its applications in power electronics,” </a:t>
            </a:r>
            <a: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Industrial Electronics Magazine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8, no. 1, pp. 16–31, Mar. 2014.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[7] R. Souad and H.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Zeroug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“Comparison between direct torque control and vector control of a permanent magnet synchronous motor drive,” in </a:t>
            </a:r>
            <a: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Proc. 13th International Power Electronics and Motion Control Conference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Poznan, Poland, 2008, pp. 1209–1214.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[8] H. Wu, W. Zhao, M. Yu, and X. Wang, “Design and simulation of a model predictive control system for a novel dual-rotor flux switching permanent magnet motor,” in </a:t>
            </a:r>
            <a: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Proc. IEEE International Conference on Predictive Control of Electrical Drives and Power Electronics (PRECEDE)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2021.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[9] S. Pandey, D. Srivastava, R. Maurya, and M. S. Khan, “Predictive maintenance for industrial equipment (motor) using IoT,” in </a:t>
            </a:r>
            <a: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Proc. 3rd International Conference on Communication, Security, and Artificial Intelligence (ICCSAI)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[10] Z.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Zoubaidi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B.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Herrou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S. Sekkat, “A new predictive maintenance system based on the LSTM model: Case study of motor production line,” in </a:t>
            </a:r>
            <a: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Proc. International Conference on Circuit, Systems and Communication (ICCSC)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[11] A. Mahesh, B. A. Aadhavan, V. V.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Meenaa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M. B. Omar, R. B. Ibrahim, N. F. Salehuddin, and R. Sujatha, “Employment of ANN for predictive motor maintenance and bearing fault detection using Park’s vector analysis,” in </a:t>
            </a:r>
            <a: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Proc. IEEE 5th International Symposium in Robotics and Manufacturing Automation (ROMA)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2022.</a:t>
            </a:r>
          </a:p>
          <a:p>
            <a:pPr marL="0" indent="0" algn="just">
              <a:buNone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333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3D3029-9909-42D4-C8FC-6437A40728C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16</a:t>
            </a:fld>
            <a:endParaRPr lang="en-NZ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BC7CD-670C-16FA-D6AF-BADA621A91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99" y="304800"/>
            <a:ext cx="10671747" cy="4320480"/>
          </a:xfrm>
        </p:spPr>
        <p:txBody>
          <a:bodyPr/>
          <a:lstStyle/>
          <a:p>
            <a:pPr marL="0" indent="0" algn="just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[12] Z. Liu, T. Yuan, X. Zhou, X. Yuan, Y. Wang, and X. Zhang, “Research on predictive maintenance technology of stepping motor based on load value analysis,” in </a:t>
            </a:r>
            <a: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Proc. Chinese Automation Congress (CAC)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2020.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[13] C. Patil, S. K. Jadhav, A. L. Bardiya, and M. P.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Raverkar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“Machine learning-based predictive maintenance of industrial machines,” vol. 71, Mar. 2023.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[14] N. K. J. L. Krishnakumar, G. Muhammad Aadhil, and A. V. P., “Predictive maintenance of motors using machine learning,” vol. 9, Apr. 2024.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[15] ISO, </a:t>
            </a:r>
            <a: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ISO 55000: Asset Management – Overview, Principles, and Terminology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International Organization for Standardization, 2024.</a:t>
            </a:r>
          </a:p>
          <a:p>
            <a:pPr marL="0" indent="0" algn="just"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[16] J.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Selech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J.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Matijosius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IN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Kilikevicius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D. Marinkovic, “Reliability analysis and the costs of corrective maintenance for a component of a fleet of trams,” </a:t>
            </a:r>
            <a:r>
              <a:rPr lang="en-IN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Tehnicki</a:t>
            </a:r>
            <a:r>
              <a:rPr lang="en-I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Vjesnik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32, no. 1, pp. 205–216, 2025.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797114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412D58-3952-4DED-CDA0-BFD56E978E0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17</a:t>
            </a:fld>
            <a:endParaRPr lang="en-NZ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96BFEB2-73E2-63C3-5951-1495FC564372}"/>
              </a:ext>
            </a:extLst>
          </p:cNvPr>
          <p:cNvSpPr txBox="1"/>
          <p:nvPr/>
        </p:nvSpPr>
        <p:spPr>
          <a:xfrm>
            <a:off x="2190050" y="1988840"/>
            <a:ext cx="7811900" cy="2227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 anchor="b">
            <a:spAutoFit/>
          </a:bodyPr>
          <a:lstStyle>
            <a:lvl1pPr algn="ctr">
              <a:lnSpc>
                <a:spcPct val="90000"/>
              </a:lnSpc>
              <a:defRPr sz="8800" b="1">
                <a:solidFill>
                  <a:srgbClr val="F27E22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</a:lstStyle>
          <a:p>
            <a:r>
              <a:rPr lang="en-US" sz="15000" dirty="0">
                <a:latin typeface="Edwardian Script ITC" pitchFamily="66" charset="0"/>
              </a:rPr>
              <a:t>Thank You</a:t>
            </a:r>
            <a:endParaRPr sz="15000" dirty="0">
              <a:latin typeface="Edwardian Script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352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REVA Powerpoint Template - NEW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roko_LI master PPT template vs6_17 May" id="{612B838A-5E32-418B-B7C4-7EB4F3A298E7}" vid="{DD7C752D-2EC0-456A-A201-074024275761}"/>
    </a:ext>
  </a:extLst>
</a:theme>
</file>

<file path=ppt/theme/theme2.xml><?xml version="1.0" encoding="utf-8"?>
<a:theme xmlns:a="http://schemas.openxmlformats.org/drawingml/2006/main" name="Agenda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ivider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edia / Video Slid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opy Slides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Copy and Imag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able &amp; Graphs Slid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Flow Slides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hank You 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SP_Nobel">
      <a:majorFont>
        <a:latin typeface="Nobel-Book"/>
        <a:ea typeface="ＭＳ Ｐゴシック"/>
        <a:cs typeface=""/>
      </a:majorFont>
      <a:minorFont>
        <a:latin typeface="Nobel-Book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SP_Nobel">
      <a:majorFont>
        <a:latin typeface="Nobel-Book"/>
        <a:ea typeface="ＭＳ Ｐゴシック"/>
        <a:cs typeface=""/>
      </a:majorFont>
      <a:minorFont>
        <a:latin typeface="Nobel-Book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0ADC236C7AC742BB0BFCA0FFECEA3A" ma:contentTypeVersion="0" ma:contentTypeDescription="Create a new document." ma:contentTypeScope="" ma:versionID="6b302963b2d4f2b039b5a5db900d0a6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6C91B7-41B2-43A3-A2C0-738920E68A3E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4916671-0E7D-4594-8037-60C70BF44351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9AE24FE-195A-4977-9740-21B0E7B6E4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REVA REVISED TEMPLATE (1)</Template>
  <TotalTime>3371</TotalTime>
  <Words>995</Words>
  <Application>Microsoft Office PowerPoint</Application>
  <PresentationFormat>Widescreen</PresentationFormat>
  <Paragraphs>60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17</vt:i4>
      </vt:variant>
    </vt:vector>
  </HeadingPairs>
  <TitlesOfParts>
    <vt:vector size="31" baseType="lpstr">
      <vt:lpstr>Arial</vt:lpstr>
      <vt:lpstr>Edwardian Script ITC</vt:lpstr>
      <vt:lpstr>Nobel-Book</vt:lpstr>
      <vt:lpstr>Roboto Medium</vt:lpstr>
      <vt:lpstr>Times New Roman</vt:lpstr>
      <vt:lpstr>REVA Powerpoint Template - NEW</vt:lpstr>
      <vt:lpstr>Agenda</vt:lpstr>
      <vt:lpstr>Divider</vt:lpstr>
      <vt:lpstr>Media / Video Slide</vt:lpstr>
      <vt:lpstr>Copy Slides</vt:lpstr>
      <vt:lpstr>Copy and Image</vt:lpstr>
      <vt:lpstr>Table &amp; Graphs Slide</vt:lpstr>
      <vt:lpstr>Flow Slides</vt:lpstr>
      <vt:lpstr>Thank You </vt:lpstr>
      <vt:lpstr>Predictive Maintenance of Industrial Motors Using Multi Sensor Data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  <vt:lpstr>cOnclusion </vt:lpstr>
      <vt:lpstr>References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Databases and Conceptual Modelling</dc:title>
  <dc:creator>USER</dc:creator>
  <cp:lastModifiedBy>Rachana Shettar</cp:lastModifiedBy>
  <cp:revision>163</cp:revision>
  <cp:lastPrinted>2018-09-28T07:11:06Z</cp:lastPrinted>
  <dcterms:created xsi:type="dcterms:W3CDTF">2020-08-18T04:48:01Z</dcterms:created>
  <dcterms:modified xsi:type="dcterms:W3CDTF">2026-05-08T18:58:36Z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0x010100B60ADC236C7AC742BB0BFCA0FFECEA3A</vt:lpwstr>
  </property>
</Properties>
</file>